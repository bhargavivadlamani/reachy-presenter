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2" r:id="rId5"/>
    <p:sldId id="264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/>
    <p:restoredTop sz="94647"/>
  </p:normalViewPr>
  <p:slideViewPr>
    <p:cSldViewPr snapToGrid="0" snapToObjects="1">
      <p:cViewPr varScale="1">
        <p:scale>
          <a:sx n="85" d="100"/>
          <a:sy n="85" d="100"/>
        </p:scale>
        <p:origin x="20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100000">
              <a:srgbClr val="15223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Line"/>
          <p:cNvSpPr/>
          <p:nvPr/>
        </p:nvSpPr>
        <p:spPr>
          <a:xfrm>
            <a:off x="0" y="6583680"/>
            <a:ext cx="12192000" cy="54864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4DA8FF"/>
              </a:gs>
              <a:gs pos="100000">
                <a:srgbClr val="6C5CE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8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0E8F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0E8F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8F0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0E8F0"/>
          </a:solidFill>
        </a:defRPr>
      </a:defPPr>
      <a:lvl1pPr marL="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0E8F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Line"/>
          <p:cNvSpPr/>
          <p:nvPr/>
        </p:nvSpPr>
        <p:spPr>
          <a:xfrm>
            <a:off x="4267200" y="2032000"/>
            <a:ext cx="3657600" cy="25400"/>
          </a:xfrm>
          <a:prstGeom prst="rect">
            <a:avLst/>
          </a:prstGeom>
          <a:gradFill>
            <a:gsLst>
              <a:gs pos="0">
                <a:srgbClr val="00D4AA"/>
              </a:gs>
              <a:gs pos="100000">
                <a:srgbClr val="4D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MainTitle"/>
          <p:cNvSpPr/>
          <p:nvPr/>
        </p:nvSpPr>
        <p:spPr>
          <a:xfrm>
            <a:off x="1016000" y="2159000"/>
            <a:ext cx="101600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ctr" anchorCtr="0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Reachy Mini: AI-Powered Robot Presenter</a:t>
            </a:r>
          </a:p>
        </p:txBody>
      </p:sp>
      <p:sp>
        <p:nvSpPr>
          <p:cNvPr id="12" name="Subtitle"/>
          <p:cNvSpPr/>
          <p:nvPr/>
        </p:nvSpPr>
        <p:spPr>
          <a:xfrm>
            <a:off x="1524000" y="29972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anchorCtr="0"/>
          <a:lstStyle/>
          <a:p>
            <a:pPr algn="ctr"/>
            <a:r>
              <a:rPr lang="en-US" sz="2400" dirty="0">
                <a:solidFill>
                  <a:srgbClr val="C8D6E5"/>
                </a:solidFill>
                <a:latin typeface="Calibri"/>
              </a:rPr>
              <a:t>Live conversational agent with Gemini Bidi streaming</a:t>
            </a:r>
          </a:p>
        </p:txBody>
      </p:sp>
      <p:sp>
        <p:nvSpPr>
          <p:cNvPr id="13" name="Tagline"/>
          <p:cNvSpPr/>
          <p:nvPr/>
        </p:nvSpPr>
        <p:spPr>
          <a:xfrm>
            <a:off x="2540000" y="3581400"/>
            <a:ext cx="711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ctr" anchorCtr="0"/>
          <a:lstStyle/>
          <a:p>
            <a:pPr algn="ctr"/>
            <a:r>
              <a:rPr lang="en-US" sz="2000" i="1" dirty="0">
                <a:solidFill>
                  <a:srgbClr val="00D4AA"/>
                </a:solidFill>
                <a:latin typeface="Calibri"/>
              </a:rPr>
              <a:t>Always listening. Never scripted.</a:t>
            </a:r>
          </a:p>
        </p:txBody>
      </p:sp>
      <p:sp>
        <p:nvSpPr>
          <p:cNvPr id="14" name="Dot1"/>
          <p:cNvSpPr/>
          <p:nvPr/>
        </p:nvSpPr>
        <p:spPr>
          <a:xfrm>
            <a:off x="5867400" y="4165600"/>
            <a:ext cx="76200" cy="7620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Dot2"/>
          <p:cNvSpPr/>
          <p:nvPr/>
        </p:nvSpPr>
        <p:spPr>
          <a:xfrm>
            <a:off x="6057900" y="4165600"/>
            <a:ext cx="76200" cy="76200"/>
          </a:xfrm>
          <a:prstGeom prst="ellipse">
            <a:avLst/>
          </a:prstGeom>
          <a:solidFill>
            <a:srgbClr val="4D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Dot3"/>
          <p:cNvSpPr/>
          <p:nvPr/>
        </p:nvSpPr>
        <p:spPr>
          <a:xfrm>
            <a:off x="6248400" y="4165600"/>
            <a:ext cx="76200" cy="76200"/>
          </a:xfrm>
          <a:prstGeom prst="ellipse">
            <a:avLst/>
          </a:prstGeom>
          <a:solidFill>
            <a:srgbClr val="6C5C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3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anchor="b" anchorCtr="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21" name="TitleLine"/>
          <p:cNvSpPr/>
          <p:nvPr/>
        </p:nvSpPr>
        <p:spPr>
          <a:xfrm>
            <a:off x="457200" y="990600"/>
            <a:ext cx="2286000" cy="25400"/>
          </a:xfrm>
          <a:prstGeom prst="rect">
            <a:avLst/>
          </a:prstGeom>
          <a:gradFill>
            <a:gsLst>
              <a:gs pos="0">
                <a:srgbClr val="00D4AA"/>
              </a:gs>
              <a:gs pos="100000">
                <a:srgbClr val="4D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Bg01"/>
          <p:cNvSpPr/>
          <p:nvPr/>
        </p:nvSpPr>
        <p:spPr>
          <a:xfrm>
            <a:off x="457200" y="1270000"/>
            <a:ext cx="3302000" cy="4318000"/>
          </a:xfrm>
          <a:prstGeom prst="roundRect">
            <a:avLst>
              <a:gd name="adj" fmla="val 5000"/>
            </a:avLst>
          </a:prstGeom>
          <a:solidFill>
            <a:srgbClr val="1B2D45"/>
          </a:solidFill>
          <a:ln w="12700">
            <a:solidFill>
              <a:srgbClr val="00D4AA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Num01"/>
          <p:cNvSpPr/>
          <p:nvPr/>
        </p:nvSpPr>
        <p:spPr>
          <a:xfrm>
            <a:off x="609600" y="1447800"/>
            <a:ext cx="76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3600" b="1" dirty="0">
                <a:solidFill>
                  <a:srgbClr val="00D4AA"/>
                </a:solidFill>
                <a:latin typeface="Calibri"/>
              </a:rPr>
              <a:t>01</a:t>
            </a:r>
          </a:p>
        </p:txBody>
      </p:sp>
      <p:sp>
        <p:nvSpPr>
          <p:cNvPr id="32" name="StepTitle01"/>
          <p:cNvSpPr/>
          <p:nvPr/>
        </p:nvSpPr>
        <p:spPr>
          <a:xfrm>
            <a:off x="609600" y="1955800"/>
            <a:ext cx="299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33" name="StepDesc01"/>
          <p:cNvSpPr/>
          <p:nvPr/>
        </p:nvSpPr>
        <p:spPr>
          <a:xfrm>
            <a:off x="609600" y="2413000"/>
            <a:ext cx="2997200" cy="2286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C8D6E5"/>
                </a:solidFill>
                <a:latin typeface="Calibri"/>
              </a:rPr>
              <a:t>Drop in a PDF or PPTX. GPT-4o vision generates a spoken script per slide.</a:t>
            </a:r>
          </a:p>
        </p:txBody>
      </p:sp>
      <p:sp>
        <p:nvSpPr>
          <p:cNvPr id="34" name="TopBar01"/>
          <p:cNvSpPr/>
          <p:nvPr/>
        </p:nvSpPr>
        <p:spPr>
          <a:xfrm>
            <a:off x="457200" y="1270000"/>
            <a:ext cx="3302000" cy="381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CardBg02"/>
          <p:cNvSpPr/>
          <p:nvPr/>
        </p:nvSpPr>
        <p:spPr>
          <a:xfrm>
            <a:off x="4191000" y="1270000"/>
            <a:ext cx="3302000" cy="4318000"/>
          </a:xfrm>
          <a:prstGeom prst="roundRect">
            <a:avLst>
              <a:gd name="adj" fmla="val 5000"/>
            </a:avLst>
          </a:prstGeom>
          <a:solidFill>
            <a:srgbClr val="1B2D45"/>
          </a:solidFill>
          <a:ln w="12700">
            <a:solidFill>
              <a:srgbClr val="4DA8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tepNum02"/>
          <p:cNvSpPr/>
          <p:nvPr/>
        </p:nvSpPr>
        <p:spPr>
          <a:xfrm>
            <a:off x="4343400" y="1447800"/>
            <a:ext cx="76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3600" b="1" dirty="0">
                <a:solidFill>
                  <a:srgbClr val="4DA8FF"/>
                </a:solidFill>
                <a:latin typeface="Calibri"/>
              </a:rPr>
              <a:t>02</a:t>
            </a:r>
          </a:p>
        </p:txBody>
      </p:sp>
      <p:sp>
        <p:nvSpPr>
          <p:cNvPr id="37" name="StepTitle02"/>
          <p:cNvSpPr/>
          <p:nvPr/>
        </p:nvSpPr>
        <p:spPr>
          <a:xfrm>
            <a:off x="4343400" y="1955800"/>
            <a:ext cx="299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38" name="StepDesc02"/>
          <p:cNvSpPr/>
          <p:nvPr/>
        </p:nvSpPr>
        <p:spPr>
          <a:xfrm>
            <a:off x="4343400" y="2413000"/>
            <a:ext cx="2997200" cy="2286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C8D6E5"/>
                </a:solidFill>
                <a:latin typeface="Calibri"/>
              </a:rPr>
              <a:t>Gemini Live bidi audio: real-time mic input, native TTS output, built-in interruption handling</a:t>
            </a:r>
          </a:p>
        </p:txBody>
      </p:sp>
      <p:sp>
        <p:nvSpPr>
          <p:cNvPr id="39" name="TopBar02"/>
          <p:cNvSpPr/>
          <p:nvPr/>
        </p:nvSpPr>
        <p:spPr>
          <a:xfrm>
            <a:off x="4191000" y="1270000"/>
            <a:ext cx="3302000" cy="3810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CardBg03"/>
          <p:cNvSpPr/>
          <p:nvPr/>
        </p:nvSpPr>
        <p:spPr>
          <a:xfrm>
            <a:off x="7924800" y="1270000"/>
            <a:ext cx="3302000" cy="4318000"/>
          </a:xfrm>
          <a:prstGeom prst="roundRect">
            <a:avLst>
              <a:gd name="adj" fmla="val 5000"/>
            </a:avLst>
          </a:prstGeom>
          <a:solidFill>
            <a:srgbClr val="1B2D45"/>
          </a:solidFill>
          <a:ln w="12700">
            <a:solidFill>
              <a:srgbClr val="6C5CE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tepNum03"/>
          <p:cNvSpPr/>
          <p:nvPr/>
        </p:nvSpPr>
        <p:spPr>
          <a:xfrm>
            <a:off x="8077200" y="1447800"/>
            <a:ext cx="76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3600" b="1" dirty="0">
                <a:solidFill>
                  <a:srgbClr val="6C5CE7"/>
                </a:solidFill>
                <a:latin typeface="Calibri"/>
              </a:rPr>
              <a:t>03</a:t>
            </a:r>
          </a:p>
        </p:txBody>
      </p:sp>
      <p:sp>
        <p:nvSpPr>
          <p:cNvPr id="42" name="StepTitle03"/>
          <p:cNvSpPr/>
          <p:nvPr/>
        </p:nvSpPr>
        <p:spPr>
          <a:xfrm>
            <a:off x="8077200" y="1955800"/>
            <a:ext cx="299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43" name="StepDesc03"/>
          <p:cNvSpPr/>
          <p:nvPr/>
        </p:nvSpPr>
        <p:spPr>
          <a:xfrm>
            <a:off x="8077200" y="2413000"/>
            <a:ext cx="2997200" cy="2286000"/>
          </a:xfrm>
          <a:prstGeom prst="rect">
            <a:avLst/>
          </a:prstGeom>
          <a:noFill/>
          <a:ln w="0">
            <a:noFill/>
          </a:ln>
        </p:spPr>
        <p:txBody>
          <a:bodyPr wrap="square" anchor="t" anchorCtr="0"/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C8D6E5"/>
                </a:solidFill>
                <a:latin typeface="Calibri"/>
              </a:rPr>
              <a:t>Robot performs a head-nod gesture, then reads the script aloud live</a:t>
            </a:r>
          </a:p>
        </p:txBody>
      </p:sp>
      <p:sp>
        <p:nvSpPr>
          <p:cNvPr id="44" name="TopBar03"/>
          <p:cNvSpPr/>
          <p:nvPr/>
        </p:nvSpPr>
        <p:spPr>
          <a:xfrm>
            <a:off x="7924800" y="1270000"/>
            <a:ext cx="3302000" cy="38100"/>
          </a:xfrm>
          <a:prstGeom prst="rect">
            <a:avLst/>
          </a:prstGeom>
          <a:solidFill>
            <a:srgbClr val="6C5C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Arrow1"/>
          <p:cNvSpPr/>
          <p:nvPr/>
        </p:nvSpPr>
        <p:spPr>
          <a:xfrm>
            <a:off x="3835400" y="3289300"/>
            <a:ext cx="2794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4AA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Arrow2"/>
          <p:cNvSpPr/>
          <p:nvPr/>
        </p:nvSpPr>
        <p:spPr>
          <a:xfrm>
            <a:off x="7569200" y="3289300"/>
            <a:ext cx="2794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DA8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Footer"/>
          <p:cNvSpPr/>
          <p:nvPr/>
        </p:nvSpPr>
        <p:spPr>
          <a:xfrm>
            <a:off x="457200" y="5842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anchorCtr="0"/>
          <a:lstStyle/>
          <a:p>
            <a:pPr algn="ctr"/>
            <a:r>
              <a:rPr lang="en-US" sz="1400" dirty="0">
                <a:solidFill>
                  <a:srgbClr val="8899AA"/>
                </a:solidFill>
                <a:latin typeface="Calibri"/>
              </a:rPr>
              <a:t>Built with Google ADK · Gemini 2.5 Flash Native Audio · Reachy Mini SDK</a:t>
            </a:r>
          </a:p>
        </p:txBody>
      </p:sp>
    </p:spTree>
    <p:extLst>
      <p:ext uri="{BB962C8B-B14F-4D97-AF65-F5344CB8AC3E}">
        <p14:creationId xmlns:p14="http://schemas.microsoft.com/office/powerpoint/2010/main" val="422602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Title"/>
          <p:cNvSpPr/>
          <p:nvPr/>
        </p:nvSpPr>
        <p:spPr>
          <a:xfrm>
            <a:off x="457200" y="2286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Context-Aware Q&amp;A via RAG</a:t>
            </a:r>
          </a:p>
        </p:txBody>
      </p:sp>
      <p:sp>
        <p:nvSpPr>
          <p:cNvPr id="51" name="TitleLine"/>
          <p:cNvSpPr/>
          <p:nvPr/>
        </p:nvSpPr>
        <p:spPr>
          <a:xfrm>
            <a:off x="457200" y="914400"/>
            <a:ext cx="2286000" cy="25400"/>
          </a:xfrm>
          <a:prstGeom prst="rect">
            <a:avLst/>
          </a:prstGeom>
          <a:gradFill>
            <a:gsLst>
              <a:gs pos="0">
                <a:srgbClr val="00D4AA"/>
              </a:gs>
              <a:gs pos="100000">
                <a:srgbClr val="4D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Subtitle"/>
          <p:cNvSpPr/>
          <p:nvPr/>
        </p:nvSpPr>
        <p:spPr>
          <a:xfrm>
            <a:off x="457200" y="10160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1800" dirty="0">
                <a:solidFill>
                  <a:srgbClr val="A0B4C8"/>
                </a:solidFill>
                <a:latin typeface="Calibri"/>
              </a:rPr>
              <a:t>Hybrid retrieval grounds every answer in the actual presentation content</a:t>
            </a:r>
          </a:p>
        </p:txBody>
      </p:sp>
      <p:sp>
        <p:nvSpPr>
          <p:cNvPr id="53" name="LeftCardBg"/>
          <p:cNvSpPr/>
          <p:nvPr/>
        </p:nvSpPr>
        <p:spPr>
          <a:xfrm>
            <a:off x="457200" y="1600200"/>
            <a:ext cx="5448300" cy="3860800"/>
          </a:xfrm>
          <a:prstGeom prst="roundRect">
            <a:avLst>
              <a:gd name="adj" fmla="val 3000"/>
            </a:avLst>
          </a:prstGeom>
          <a:solidFill>
            <a:srgbClr val="1B2D45"/>
          </a:solidFill>
          <a:ln w="12700">
            <a:solidFill>
              <a:srgbClr val="00D4AA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LeftTopBar"/>
          <p:cNvSpPr/>
          <p:nvPr/>
        </p:nvSpPr>
        <p:spPr>
          <a:xfrm>
            <a:off x="457200" y="1600200"/>
            <a:ext cx="5448300" cy="381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LeftLabel"/>
          <p:cNvSpPr/>
          <p:nvPr/>
        </p:nvSpPr>
        <p:spPr>
          <a:xfrm>
            <a:off x="609600" y="1727200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2400" b="1" dirty="0">
                <a:solidFill>
                  <a:srgbClr val="00D4AA"/>
                </a:solidFill>
                <a:latin typeface="Calibri"/>
              </a:rPr>
              <a:t>Ingest</a:t>
            </a:r>
          </a:p>
        </p:txBody>
      </p:sp>
      <p:sp>
        <p:nvSpPr>
          <p:cNvPr id="56" name="LeftBullets"/>
          <p:cNvSpPr/>
          <p:nvPr/>
        </p:nvSpPr>
        <p:spPr>
          <a:xfrm>
            <a:off x="609600" y="2260600"/>
            <a:ext cx="5143500" cy="2794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Parse PDF/PPTX → chunk (400 tokens, 60 overlap)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Embed: dense (nomic-embed-text / text-embedding-3-small) + sparse (BM25)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Store in Qdrant — idempotent, SHA-256 deduplication</a:t>
            </a:r>
          </a:p>
        </p:txBody>
      </p:sp>
      <p:sp>
        <p:nvSpPr>
          <p:cNvPr id="57" name="RightCardBg"/>
          <p:cNvSpPr/>
          <p:nvPr/>
        </p:nvSpPr>
        <p:spPr>
          <a:xfrm>
            <a:off x="6286500" y="1600200"/>
            <a:ext cx="5448300" cy="3860800"/>
          </a:xfrm>
          <a:prstGeom prst="roundRect">
            <a:avLst>
              <a:gd name="adj" fmla="val 3000"/>
            </a:avLst>
          </a:prstGeom>
          <a:solidFill>
            <a:srgbClr val="1B2D45"/>
          </a:solidFill>
          <a:ln w="12700">
            <a:solidFill>
              <a:srgbClr val="4DA8FF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ightTopBar"/>
          <p:cNvSpPr/>
          <p:nvPr/>
        </p:nvSpPr>
        <p:spPr>
          <a:xfrm>
            <a:off x="6286500" y="1600200"/>
            <a:ext cx="5448300" cy="3810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ightLabel"/>
          <p:cNvSpPr/>
          <p:nvPr/>
        </p:nvSpPr>
        <p:spPr>
          <a:xfrm>
            <a:off x="6438900" y="1727200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2400" b="1" dirty="0">
                <a:solidFill>
                  <a:srgbClr val="4DA8FF"/>
                </a:solidFill>
                <a:latin typeface="Calibri"/>
              </a:rPr>
              <a:t>Retrieve</a:t>
            </a:r>
          </a:p>
        </p:txBody>
      </p:sp>
      <p:sp>
        <p:nvSpPr>
          <p:cNvPr id="60" name="RightBullets"/>
          <p:cNvSpPr/>
          <p:nvPr/>
        </p:nvSpPr>
        <p:spPr>
          <a:xfrm>
            <a:off x="6438900" y="2260600"/>
            <a:ext cx="5143500" cy="2794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Hybrid search — BM25 + dense vector → top-20 candidates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Rerank — cross-encoder scores query+chunk pairs → top-5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buFont typeface="Arial"/>
              <a:buChar char="▸"/>
            </a:pPr>
            <a:r>
              <a:rPr lang="en-US" sz="1600" dirty="0">
                <a:solidFill>
                  <a:srgbClr val="E0E8F0"/>
                </a:solidFill>
                <a:latin typeface="Calibri"/>
              </a:rPr>
              <a:t>build_context() → formatted string injected into LLM prompt</a:t>
            </a:r>
          </a:p>
        </p:txBody>
      </p:sp>
      <p:sp>
        <p:nvSpPr>
          <p:cNvPr id="61" name="ColArrow"/>
          <p:cNvSpPr/>
          <p:nvPr/>
        </p:nvSpPr>
        <p:spPr>
          <a:xfrm>
            <a:off x="5918200" y="3200400"/>
            <a:ext cx="3556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4AA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Footer"/>
          <p:cNvSpPr/>
          <p:nvPr/>
        </p:nvSpPr>
        <p:spPr>
          <a:xfrm>
            <a:off x="457200" y="59690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n-US" sz="1400" dirty="0">
                <a:solidFill>
                  <a:srgbClr val="8899AA"/>
                </a:solidFill>
                <a:latin typeface="Calibri"/>
              </a:rPr>
              <a:t>Qdrant · nomic-embed-text · cross-encoder/ms-marco-MiniLM-L-6-v2</a:t>
            </a:r>
          </a:p>
        </p:txBody>
      </p:sp>
    </p:spTree>
    <p:extLst>
      <p:ext uri="{BB962C8B-B14F-4D97-AF65-F5344CB8AC3E}">
        <p14:creationId xmlns:p14="http://schemas.microsoft.com/office/powerpoint/2010/main" val="346546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030B1E-C39B-E840-BFD1-ED183020C0B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778000"/>
          <a:ext cx="11277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7886465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686072334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751916235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83194579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Metrics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Goal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652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Stage 1 · Retriever</a:t>
                      </a:r>
                    </a:p>
                  </a:txBody>
                  <a:tcPr anchor="ctr"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K=20</a:t>
                      </a:r>
                    </a:p>
                  </a:txBody>
                  <a:tcPr anchor="ctr"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Recall@K, Hit@K</a:t>
                      </a:r>
                    </a:p>
                  </a:txBody>
                  <a:tcPr anchor="ctr"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Surface the right chunk at all</a:t>
                      </a:r>
                    </a:p>
                  </a:txBody>
                  <a:tcPr anchor="ctr">
                    <a:solidFill>
                      <a:srgbClr val="1A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3799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Stage 2 · Reranker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K=5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Precision@K, NDCG@K, MRR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0E8F0"/>
                          </a:solidFill>
                          <a:latin typeface="Calibri"/>
                          <a:cs typeface="Calibri"/>
                        </a:rPr>
                        <a:t>Push relevant chunks to the top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86971"/>
                  </a:ext>
                </a:extLst>
              </a:tr>
            </a:tbl>
          </a:graphicData>
        </a:graphic>
      </p:graphicFrame>
      <p:sp>
        <p:nvSpPr>
          <p:cNvPr id="70" name="SlideTitle"/>
          <p:cNvSpPr/>
          <p:nvPr/>
        </p:nvSpPr>
        <p:spPr>
          <a:xfrm>
            <a:off x="457200" y="228600"/>
            <a:ext cx="112776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/>
              </a:rPr>
              <a:t>Two-Stage Evaluation</a:t>
            </a:r>
          </a:p>
        </p:txBody>
      </p:sp>
      <p:sp>
        <p:nvSpPr>
          <p:cNvPr id="71" name="TitleLine"/>
          <p:cNvSpPr/>
          <p:nvPr/>
        </p:nvSpPr>
        <p:spPr>
          <a:xfrm>
            <a:off x="457200" y="914400"/>
            <a:ext cx="2286000" cy="25400"/>
          </a:xfrm>
          <a:prstGeom prst="rect">
            <a:avLst/>
          </a:prstGeom>
          <a:gradFill>
            <a:gsLst>
              <a:gs pos="0">
                <a:srgbClr val="00D4AA"/>
              </a:gs>
              <a:gs pos="100000">
                <a:srgbClr val="4D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Subtitle"/>
          <p:cNvSpPr/>
          <p:nvPr/>
        </p:nvSpPr>
        <p:spPr>
          <a:xfrm>
            <a:off x="457200" y="1016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1800" dirty="0">
                <a:solidFill>
                  <a:srgbClr val="A0B4C8"/>
                </a:solidFill>
                <a:latin typeface="Calibri"/>
              </a:rPr>
              <a:t>Measure retriever recall ceiling separately from reranker precision</a:t>
            </a:r>
          </a:p>
        </p:txBody>
      </p:sp>
      <p:sp>
        <p:nvSpPr>
          <p:cNvPr id="73" name="CalloutBg"/>
          <p:cNvSpPr/>
          <p:nvPr/>
        </p:nvSpPr>
        <p:spPr>
          <a:xfrm>
            <a:off x="457200" y="3683000"/>
            <a:ext cx="11277600" cy="1651000"/>
          </a:xfrm>
          <a:prstGeom prst="roundRect">
            <a:avLst>
              <a:gd name="adj" fmla="val 5000"/>
            </a:avLst>
          </a:prstGeom>
          <a:solidFill>
            <a:srgbClr val="1B2D45"/>
          </a:solidFill>
          <a:ln w="12700">
            <a:solidFill>
              <a:srgbClr val="FFD93D">
                <a:alpha val="40000"/>
              </a:srgbClr>
            </a:solidFill>
          </a:ln>
        </p:spPr>
        <p:txBody>
          <a:bodyPr wrap="square" lIns="228600" tIns="152400" rIns="228600" bIns="152400" anchor="ctr"/>
          <a:lstStyle/>
          <a:p>
            <a:pPr algn="l">
              <a:lnSpc>
                <a:spcPts val="2400"/>
              </a:lnSpc>
            </a:pPr>
            <a:r>
              <a:rPr lang="en-US" sz="1600" b="1" dirty="0">
                <a:solidFill>
                  <a:srgbClr val="FFD93D"/>
                </a:solidFill>
                <a:latin typeface="Calibri"/>
              </a:rPr>
              <a:t>Why two stages?  </a:t>
            </a:r>
            <a:r>
              <a:rPr lang="en-US" sz="1600" dirty="0">
                <a:solidFill>
                  <a:srgbClr val="E0E8F0"/>
                </a:solidFill>
                <a:latin typeface="Calibri"/>
              </a:rPr>
              <a:t>A high Recall@20 with low Precision@5 means the reranker is the bottleneck — not the embeddings.</a:t>
            </a:r>
          </a:p>
        </p:txBody>
      </p:sp>
      <p:sp>
        <p:nvSpPr>
          <p:cNvPr id="74" name="CalloutAccent"/>
          <p:cNvSpPr/>
          <p:nvPr/>
        </p:nvSpPr>
        <p:spPr>
          <a:xfrm>
            <a:off x="457200" y="3683000"/>
            <a:ext cx="50800" cy="1651000"/>
          </a:xfrm>
          <a:prstGeom prst="rect">
            <a:avLst/>
          </a:prstGeom>
          <a:solidFill>
            <a:srgbClr val="FFD93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Footer"/>
          <p:cNvSpPr/>
          <p:nvPr/>
        </p:nvSpPr>
        <p:spPr>
          <a:xfrm>
            <a:off x="457200" y="5588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n-US" sz="1400" dirty="0">
                <a:solidFill>
                  <a:srgbClr val="8899AA"/>
                </a:solidFill>
                <a:latin typeface="Calibri"/>
              </a:rPr>
              <a:t>Offline eval via Ragas · Cross-encoder reranker · Optional Cohere rerank-english-v3.0</a:t>
            </a:r>
          </a:p>
        </p:txBody>
      </p:sp>
    </p:spTree>
    <p:extLst>
      <p:ext uri="{BB962C8B-B14F-4D97-AF65-F5344CB8AC3E}">
        <p14:creationId xmlns:p14="http://schemas.microsoft.com/office/powerpoint/2010/main" val="987219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411019470]">
  <a:themeElements>
    <a:clrScheme name="Reachy Dark">
      <a:dk1>
        <a:srgbClr val="E0E8F0"/>
      </a:dk1>
      <a:lt1>
        <a:srgbClr val="0D1B2A"/>
      </a:lt1>
      <a:dk2>
        <a:srgbClr val="A0B4C8"/>
      </a:dk2>
      <a:lt2>
        <a:srgbClr val="1B2D45"/>
      </a:lt2>
      <a:accent1>
        <a:srgbClr val="00D4AA"/>
      </a:accent1>
      <a:accent2>
        <a:srgbClr val="4DA8FF"/>
      </a:accent2>
      <a:accent3>
        <a:srgbClr val="FF6B6B"/>
      </a:accent3>
      <a:accent4>
        <a:srgbClr val="FFD93D"/>
      </a:accent4>
      <a:accent5>
        <a:srgbClr val="6C5CE7"/>
      </a:accent5>
      <a:accent6>
        <a:srgbClr val="A8E6CF"/>
      </a:accent6>
      <a:hlink>
        <a:srgbClr val="0563C1"/>
      </a:hlink>
      <a:folHlink>
        <a:srgbClr val="954F72"/>
      </a:folHlink>
    </a:clrScheme>
    <a:fontScheme name="Reachy Fonts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6e7199-f40e-4bbe-bf0f-bf7c274cbb12}">
  <we:reference id="WA200010001" version="1.0.0.1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269</Words>
  <Application>Microsoft Macintosh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 [1774411019470]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Lakshmi Vadlamani</cp:lastModifiedBy>
  <cp:revision>4</cp:revision>
  <dcterms:created xsi:type="dcterms:W3CDTF">2018-06-07T21:39:02Z</dcterms:created>
  <dcterms:modified xsi:type="dcterms:W3CDTF">2026-03-25T14:30:43Z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